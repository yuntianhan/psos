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91" r:id="rId4"/>
    <p:sldId id="266" r:id="rId5"/>
    <p:sldId id="263" r:id="rId6"/>
    <p:sldId id="274" r:id="rId7"/>
    <p:sldId id="269" r:id="rId8"/>
    <p:sldId id="276" r:id="rId9"/>
    <p:sldId id="277" r:id="rId10"/>
    <p:sldId id="292" r:id="rId11"/>
    <p:sldId id="294" r:id="rId12"/>
    <p:sldId id="28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2/12/2024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2/12/2024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a:fillRect/>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2/12/2024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bash.cyberciti.biz/guide/Type_command" TargetMode="External"/><Relationship Id="rId2" Type="http://schemas.openxmlformats.org/officeDocument/2006/relationships/hyperlink" Target="https://www.cyberciti.biz/faq/unix-linux-which-command-examples-syntax-to-locate-programs/" TargetMode="External"/><Relationship Id="rId1" Type="http://schemas.openxmlformats.org/officeDocument/2006/relationships/slideLayout" Target="../slideLayouts/slideLayout2.xml"/><Relationship Id="rId4" Type="http://schemas.openxmlformats.org/officeDocument/2006/relationships/hyperlink" Target="https://bash.cyberciti.biz/guide/Comman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altLang="en-US" cap="none" dirty="0">
                <a:latin typeface="Times New Roman" panose="02020603050405020304" pitchFamily="18" charset="0"/>
                <a:cs typeface="Times New Roman" panose="02020603050405020304" pitchFamily="18" charset="0"/>
              </a:rPr>
              <a:t>Principles Of </a:t>
            </a:r>
            <a:br>
              <a:rPr lang="en-US" altLang="en-US" cap="none" dirty="0">
                <a:latin typeface="Times New Roman" panose="02020603050405020304" pitchFamily="18" charset="0"/>
                <a:cs typeface="Times New Roman" panose="02020603050405020304" pitchFamily="18" charset="0"/>
              </a:rPr>
            </a:br>
            <a:r>
              <a:rPr lang="en-US" altLang="en-US" cap="none" dirty="0">
                <a:latin typeface="Times New Roman" panose="02020603050405020304" pitchFamily="18" charset="0"/>
                <a:cs typeface="Times New Roman" panose="02020603050405020304" pitchFamily="18" charset="0"/>
              </a:rPr>
              <a:t>Secure </a:t>
            </a:r>
            <a:r>
              <a:rPr lang="en-GB" altLang="en-US" cap="none" dirty="0">
                <a:latin typeface="Times New Roman" panose="02020603050405020304" pitchFamily="18" charset="0"/>
                <a:cs typeface="Times New Roman" panose="02020603050405020304" pitchFamily="18" charset="0"/>
              </a:rPr>
              <a:t>Operating Systems</a:t>
            </a:r>
            <a:r>
              <a:rPr lang="en-US" cap="none" dirty="0">
                <a:latin typeface="Times New Roman" panose="02020603050405020304" pitchFamily="18" charset="0"/>
                <a:cs typeface="Times New Roman" panose="02020603050405020304" pitchFamily="18" charset="0"/>
              </a:rPr>
              <a:t> (CHC 6171)</a:t>
            </a:r>
          </a:p>
        </p:txBody>
      </p:sp>
      <p:sp>
        <p:nvSpPr>
          <p:cNvPr id="3" name="Subtitle 2"/>
          <p:cNvSpPr>
            <a:spLocks noGrp="1"/>
          </p:cNvSpPr>
          <p:nvPr>
            <p:ph type="subTitle" idx="1"/>
          </p:nvPr>
        </p:nvSpPr>
        <p:spPr/>
        <p:txBody>
          <a:bodyPr>
            <a:normAutofit fontScale="85000" lnSpcReduction="20000"/>
          </a:bodyPr>
          <a:lstStyle/>
          <a:p>
            <a:pPr algn="just">
              <a:spcBef>
                <a:spcPts val="300"/>
              </a:spcBef>
              <a:spcAft>
                <a:spcPts val="300"/>
              </a:spcAft>
            </a:pPr>
            <a:r>
              <a:rPr lang="en-US" sz="3000" cap="none" dirty="0">
                <a:solidFill>
                  <a:srgbClr val="FF0000"/>
                </a:solidFill>
                <a:latin typeface="Times New Roman" panose="02020603050405020304" pitchFamily="18" charset="0"/>
                <a:cs typeface="Times New Roman" panose="02020603050405020304" pitchFamily="18" charset="0"/>
              </a:rPr>
              <a:t>Practical Lesson </a:t>
            </a:r>
            <a:r>
              <a:rPr lang="en-US" altLang="en-US" sz="3000" cap="none" dirty="0">
                <a:solidFill>
                  <a:srgbClr val="FF0000"/>
                </a:solidFill>
                <a:latin typeface="Times New Roman" panose="02020603050405020304" pitchFamily="18" charset="0"/>
                <a:cs typeface="Times New Roman" panose="02020603050405020304" pitchFamily="18" charset="0"/>
              </a:rPr>
              <a:t>3</a:t>
            </a:r>
            <a:r>
              <a:rPr lang="en-US" sz="3000" cap="none" dirty="0">
                <a:solidFill>
                  <a:srgbClr val="FF0000"/>
                </a:solidFill>
                <a:latin typeface="Times New Roman" panose="02020603050405020304" pitchFamily="18" charset="0"/>
                <a:cs typeface="Times New Roman" panose="02020603050405020304" pitchFamily="18" charset="0"/>
              </a:rPr>
              <a:t>: </a:t>
            </a:r>
            <a:r>
              <a:rPr lang="en-US" altLang="en-US" sz="3000" cap="none" dirty="0">
                <a:solidFill>
                  <a:srgbClr val="FF0000"/>
                </a:solidFill>
                <a:latin typeface="Times New Roman" panose="02020603050405020304" pitchFamily="18" charset="0"/>
                <a:cs typeface="Times New Roman" panose="02020603050405020304" pitchFamily="18" charset="0"/>
              </a:rPr>
              <a:t>Processes In </a:t>
            </a:r>
            <a:r>
              <a:rPr lang="en-US" altLang="en-US" sz="3000" cap="none" dirty="0" err="1">
                <a:solidFill>
                  <a:srgbClr val="FF0000"/>
                </a:solidFill>
                <a:latin typeface="Times New Roman" panose="02020603050405020304" pitchFamily="18" charset="0"/>
                <a:cs typeface="Times New Roman" panose="02020603050405020304" pitchFamily="18" charset="0"/>
                <a:sym typeface="+mn-ea"/>
              </a:rPr>
              <a:t>Minix</a:t>
            </a:r>
            <a:r>
              <a:rPr lang="en-US" altLang="en-US" sz="3000" cap="none" dirty="0">
                <a:solidFill>
                  <a:srgbClr val="FF0000"/>
                </a:solidFill>
                <a:latin typeface="Times New Roman" panose="02020603050405020304" pitchFamily="18" charset="0"/>
                <a:cs typeface="Times New Roman" panose="02020603050405020304" pitchFamily="18" charset="0"/>
              </a:rPr>
              <a:t>, C </a:t>
            </a:r>
            <a:r>
              <a:rPr lang="en-US" altLang="en-US" sz="3000" cap="none" dirty="0">
                <a:solidFill>
                  <a:srgbClr val="FF0000"/>
                </a:solidFill>
                <a:latin typeface="Times New Roman" panose="02020603050405020304" pitchFamily="18" charset="0"/>
                <a:cs typeface="Times New Roman" panose="02020603050405020304" pitchFamily="18" charset="0"/>
                <a:sym typeface="+mn-ea"/>
              </a:rPr>
              <a:t>Programming On </a:t>
            </a:r>
            <a:r>
              <a:rPr lang="en-US" altLang="en-US" sz="3000" cap="none" dirty="0" err="1">
                <a:solidFill>
                  <a:srgbClr val="FF0000"/>
                </a:solidFill>
                <a:latin typeface="Times New Roman" panose="02020603050405020304" pitchFamily="18" charset="0"/>
                <a:cs typeface="Times New Roman" panose="02020603050405020304" pitchFamily="18" charset="0"/>
                <a:sym typeface="+mn-ea"/>
              </a:rPr>
              <a:t>Minix</a:t>
            </a:r>
            <a:r>
              <a:rPr lang="en-US" altLang="en-US" sz="3000" cap="none" dirty="0">
                <a:solidFill>
                  <a:srgbClr val="FF0000"/>
                </a:solidFill>
                <a:latin typeface="Times New Roman" panose="02020603050405020304" pitchFamily="18" charset="0"/>
                <a:cs typeface="Times New Roman" panose="02020603050405020304" pitchFamily="18" charset="0"/>
                <a:sym typeface="+mn-ea"/>
              </a:rPr>
              <a:t> &amp; </a:t>
            </a:r>
            <a:r>
              <a:rPr lang="en-GB" sz="3000" cap="none" dirty="0" err="1">
                <a:solidFill>
                  <a:srgbClr val="FF0000"/>
                </a:solidFill>
                <a:latin typeface="Times New Roman" panose="02020603050405020304" pitchFamily="18" charset="0"/>
                <a:cs typeface="Times New Roman" panose="02020603050405020304" pitchFamily="18" charset="0"/>
                <a:sym typeface="+mn-ea"/>
              </a:rPr>
              <a:t>Multiprocess</a:t>
            </a:r>
            <a:r>
              <a:rPr lang="en-GB" sz="3000" cap="none" dirty="0">
                <a:solidFill>
                  <a:srgbClr val="FF0000"/>
                </a:solidFill>
                <a:latin typeface="Times New Roman" panose="02020603050405020304" pitchFamily="18" charset="0"/>
                <a:cs typeface="Times New Roman" panose="02020603050405020304" pitchFamily="18" charset="0"/>
                <a:sym typeface="+mn-ea"/>
              </a:rPr>
              <a:t> Program</a:t>
            </a:r>
            <a:r>
              <a:rPr lang="en-US" altLang="en-GB" sz="3000" cap="none" dirty="0">
                <a:solidFill>
                  <a:srgbClr val="FF0000"/>
                </a:solidFill>
                <a:latin typeface="Times New Roman" panose="02020603050405020304" pitchFamily="18" charset="0"/>
                <a:cs typeface="Times New Roman" panose="02020603050405020304" pitchFamily="18" charset="0"/>
                <a:sym typeface="+mn-ea"/>
              </a:rPr>
              <a:t> On </a:t>
            </a:r>
            <a:r>
              <a:rPr lang="en-GB" sz="3000" cap="none" dirty="0" err="1">
                <a:solidFill>
                  <a:srgbClr val="FF0000"/>
                </a:solidFill>
                <a:latin typeface="Times New Roman" panose="02020603050405020304" pitchFamily="18" charset="0"/>
                <a:cs typeface="Times New Roman" panose="02020603050405020304" pitchFamily="18" charset="0"/>
                <a:sym typeface="+mn-ea"/>
              </a:rPr>
              <a:t>Minix</a:t>
            </a:r>
            <a:r>
              <a:rPr lang="en-US" altLang="en-GB" sz="3000" cap="none" dirty="0">
                <a:solidFill>
                  <a:srgbClr val="FF0000"/>
                </a:solidFill>
                <a:latin typeface="Times New Roman" panose="02020603050405020304" pitchFamily="18" charset="0"/>
                <a:cs typeface="Times New Roman" panose="02020603050405020304" pitchFamily="18" charset="0"/>
                <a:sym typeface="+mn-ea"/>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63675" y="1737360"/>
            <a:ext cx="8604885" cy="1887855"/>
          </a:xfrm>
        </p:spPr>
        <p:txBody>
          <a:bodyPr>
            <a:noAutofit/>
          </a:bodyPr>
          <a:lstStyle/>
          <a:p>
            <a:pPr algn="ctr"/>
            <a:r>
              <a:rPr lang="en-US" altLang="en-US" cap="none" dirty="0">
                <a:latin typeface="Times New Roman" panose="02020603050405020304" pitchFamily="18" charset="0"/>
                <a:cs typeface="Times New Roman" panose="02020603050405020304" pitchFamily="18" charset="0"/>
                <a:sym typeface="+mn-ea"/>
              </a:rPr>
              <a:t>PROCESSES In MINIX, </a:t>
            </a:r>
            <a:br>
              <a:rPr lang="en-US" altLang="en-US" cap="none" dirty="0">
                <a:latin typeface="Times New Roman" panose="02020603050405020304" pitchFamily="18" charset="0"/>
                <a:cs typeface="Times New Roman" panose="02020603050405020304" pitchFamily="18" charset="0"/>
                <a:sym typeface="+mn-ea"/>
              </a:rPr>
            </a:br>
            <a:r>
              <a:rPr lang="en-US" altLang="en-US" cap="none" dirty="0">
                <a:latin typeface="Times New Roman" panose="02020603050405020304" pitchFamily="18" charset="0"/>
                <a:cs typeface="Times New Roman" panose="02020603050405020304" pitchFamily="18" charset="0"/>
                <a:sym typeface="+mn-ea"/>
              </a:rPr>
              <a:t>C-programming On </a:t>
            </a:r>
            <a:r>
              <a:rPr lang="en-US" altLang="en-US" cap="none" dirty="0" err="1">
                <a:latin typeface="Times New Roman" panose="02020603050405020304" pitchFamily="18" charset="0"/>
                <a:cs typeface="Times New Roman" panose="02020603050405020304" pitchFamily="18" charset="0"/>
                <a:sym typeface="+mn-ea"/>
              </a:rPr>
              <a:t>Minix</a:t>
            </a:r>
            <a:r>
              <a:rPr lang="en-US" altLang="en-US" cap="none" dirty="0">
                <a:latin typeface="Times New Roman" panose="02020603050405020304" pitchFamily="18" charset="0"/>
                <a:cs typeface="Times New Roman" panose="02020603050405020304" pitchFamily="18" charset="0"/>
                <a:sym typeface="+mn-ea"/>
              </a:rPr>
              <a:t> &amp;</a:t>
            </a:r>
            <a:r>
              <a:rPr lang="en-US" altLang="en-GB" cap="none" dirty="0">
                <a:latin typeface="Times New Roman" panose="02020603050405020304" pitchFamily="18" charset="0"/>
                <a:cs typeface="Times New Roman" panose="02020603050405020304" pitchFamily="18" charset="0"/>
                <a:sym typeface="+mn-ea"/>
              </a:rPr>
              <a:t> </a:t>
            </a:r>
            <a:r>
              <a:rPr lang="en-GB" cap="none" dirty="0" err="1">
                <a:latin typeface="Times New Roman" panose="02020603050405020304" pitchFamily="18" charset="0"/>
                <a:cs typeface="Times New Roman" panose="02020603050405020304" pitchFamily="18" charset="0"/>
                <a:sym typeface="+mn-ea"/>
              </a:rPr>
              <a:t>Multiprocess</a:t>
            </a:r>
            <a:r>
              <a:rPr lang="en-GB" cap="none" dirty="0">
                <a:latin typeface="Times New Roman" panose="02020603050405020304" pitchFamily="18" charset="0"/>
                <a:cs typeface="Times New Roman" panose="02020603050405020304" pitchFamily="18" charset="0"/>
                <a:sym typeface="+mn-ea"/>
              </a:rPr>
              <a:t> Program</a:t>
            </a:r>
            <a:r>
              <a:rPr lang="en-US" altLang="en-GB" cap="none" dirty="0">
                <a:latin typeface="Times New Roman" panose="02020603050405020304" pitchFamily="18" charset="0"/>
                <a:cs typeface="Times New Roman" panose="02020603050405020304" pitchFamily="18" charset="0"/>
                <a:sym typeface="+mn-ea"/>
              </a:rPr>
              <a:t> On </a:t>
            </a:r>
            <a:r>
              <a:rPr lang="en-GB" cap="none" dirty="0" err="1">
                <a:latin typeface="Times New Roman" panose="02020603050405020304" pitchFamily="18" charset="0"/>
                <a:cs typeface="Times New Roman" panose="02020603050405020304" pitchFamily="18" charset="0"/>
                <a:sym typeface="+mn-ea"/>
              </a:rPr>
              <a:t>Minix</a:t>
            </a:r>
            <a:r>
              <a:rPr lang="en-GB" cap="none" dirty="0">
                <a:latin typeface="Times New Roman" panose="02020603050405020304" pitchFamily="18" charset="0"/>
                <a:cs typeface="Times New Roman" panose="02020603050405020304" pitchFamily="18" charset="0"/>
                <a:sym typeface="+mn-ea"/>
              </a:rPr>
              <a:t>  </a:t>
            </a:r>
            <a:endParaRPr lang="en-US" altLang="en-GB" cap="none"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72900" y="3095192"/>
            <a:ext cx="8643154" cy="667615"/>
          </a:xfrm>
        </p:spPr>
        <p:txBody>
          <a:bodyPr/>
          <a:lstStyle/>
          <a:p>
            <a:r>
              <a:rPr lang="en-US" altLang="en-US" cap="none" dirty="0">
                <a:latin typeface="Times New Roman" panose="02020603050405020304" pitchFamily="18" charset="0"/>
                <a:cs typeface="Times New Roman" panose="02020603050405020304" pitchFamily="18" charset="0"/>
                <a:sym typeface="+mn-ea"/>
              </a:rPr>
              <a:t>Processes In </a:t>
            </a:r>
            <a:r>
              <a:rPr lang="en-US" altLang="en-US" cap="none" dirty="0" err="1">
                <a:latin typeface="Times New Roman" panose="02020603050405020304" pitchFamily="18" charset="0"/>
                <a:cs typeface="Times New Roman" panose="02020603050405020304" pitchFamily="18" charset="0"/>
                <a:sym typeface="+mn-ea"/>
              </a:rPr>
              <a:t>Minix</a:t>
            </a:r>
            <a:endParaRPr lang="en-US" altLang="en-US" cap="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224396"/>
            <a:ext cx="9603275" cy="1049235"/>
          </a:xfrm>
        </p:spPr>
        <p:txBody>
          <a:bodyPr/>
          <a:lstStyle/>
          <a:p>
            <a:r>
              <a:rPr lang="en-US" altLang="en-US" cap="none" dirty="0">
                <a:latin typeface="Times New Roman" panose="02020603050405020304" pitchFamily="18" charset="0"/>
                <a:cs typeface="Times New Roman" panose="02020603050405020304" pitchFamily="18" charset="0"/>
              </a:rPr>
              <a:t>Processes In </a:t>
            </a:r>
            <a:r>
              <a:rPr lang="en-US" altLang="en-US" cap="none" dirty="0" err="1">
                <a:latin typeface="Times New Roman" panose="02020603050405020304" pitchFamily="18" charset="0"/>
                <a:cs typeface="Times New Roman" panose="02020603050405020304" pitchFamily="18" charset="0"/>
              </a:rPr>
              <a:t>Minix</a:t>
            </a:r>
            <a:r>
              <a:rPr lang="en-US" altLang="en-US" cap="none" dirty="0">
                <a:latin typeface="Times New Roman" panose="02020603050405020304" pitchFamily="18" charset="0"/>
                <a:cs typeface="Times New Roman" panose="02020603050405020304" pitchFamily="18" charset="0"/>
              </a:rPr>
              <a:t> -- Group Activity</a:t>
            </a:r>
          </a:p>
        </p:txBody>
      </p:sp>
      <p:sp>
        <p:nvSpPr>
          <p:cNvPr id="3" name="Content Placeholder 2"/>
          <p:cNvSpPr>
            <a:spLocks noGrp="1"/>
          </p:cNvSpPr>
          <p:nvPr>
            <p:ph idx="1"/>
          </p:nvPr>
        </p:nvSpPr>
        <p:spPr/>
        <p:txBody>
          <a:bodyPr>
            <a:normAutofit fontScale="90000" lnSpcReduction="10000"/>
          </a:bodyPr>
          <a:lstStyle/>
          <a:p>
            <a:pPr marL="0" indent="0" algn="just">
              <a:buNone/>
            </a:pPr>
            <a:r>
              <a:rPr lang="en-US" altLang="en-US" dirty="0">
                <a:latin typeface="Times New Roman" panose="02020603050405020304" pitchFamily="18" charset="0"/>
                <a:cs typeface="Times New Roman" panose="02020603050405020304" pitchFamily="18" charset="0"/>
              </a:rPr>
              <a:t>Find the purpose of the following Minix commands.  Try them o your Minix OS and observe the results you obtain.  </a:t>
            </a:r>
            <a:r>
              <a:rPr lang="en-US" altLang="en-US" dirty="0">
                <a:solidFill>
                  <a:srgbClr val="FF0000"/>
                </a:solidFill>
                <a:latin typeface="Times New Roman" panose="02020603050405020304" pitchFamily="18" charset="0"/>
                <a:cs typeface="Times New Roman" panose="02020603050405020304" pitchFamily="18" charset="0"/>
              </a:rPr>
              <a:t>NB:  To quit press q, for help press h.</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ps</a:t>
            </a:r>
            <a:r>
              <a:rPr 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ps -e</a:t>
            </a:r>
          </a:p>
          <a:p>
            <a:r>
              <a:rPr lang="en-US" altLang="en-US" dirty="0">
                <a:latin typeface="Times New Roman" panose="02020603050405020304" pitchFamily="18" charset="0"/>
                <a:cs typeface="Times New Roman" panose="02020603050405020304" pitchFamily="18" charset="0"/>
                <a:sym typeface="+mn-ea"/>
              </a:rPr>
              <a:t>ps -A</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top</a:t>
            </a:r>
          </a:p>
          <a:p>
            <a:r>
              <a:rPr lang="en-US" altLang="en-US" dirty="0">
                <a:latin typeface="Times New Roman" panose="02020603050405020304" pitchFamily="18" charset="0"/>
                <a:cs typeface="Times New Roman" panose="02020603050405020304" pitchFamily="18" charset="0"/>
              </a:rPr>
              <a:t>ps aux | less</a:t>
            </a:r>
          </a:p>
          <a:p>
            <a:r>
              <a:rPr lang="en-US" altLang="en-US" dirty="0">
                <a:latin typeface="Times New Roman" panose="02020603050405020304" pitchFamily="18" charset="0"/>
                <a:cs typeface="Times New Roman" panose="02020603050405020304" pitchFamily="18" charset="0"/>
              </a:rPr>
              <a:t>ps -aux | less</a:t>
            </a:r>
          </a:p>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54239" y="2929812"/>
            <a:ext cx="8643154" cy="714268"/>
          </a:xfrm>
        </p:spPr>
        <p:txBody>
          <a:bodyPr/>
          <a:lstStyle/>
          <a:p>
            <a:r>
              <a:rPr lang="en-US" cap="none" dirty="0"/>
              <a:t>In</a:t>
            </a:r>
            <a:r>
              <a:rPr lang="en-US" altLang="en-US" cap="none" dirty="0"/>
              <a:t>troduction To C-Programming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84988"/>
            <a:ext cx="9603275" cy="668766"/>
          </a:xfrm>
        </p:spPr>
        <p:txBody>
          <a:bodyPr>
            <a:normAutofit/>
          </a:bodyPr>
          <a:lstStyle/>
          <a:p>
            <a:r>
              <a:rPr lang="en-US" cap="none" dirty="0">
                <a:latin typeface="Times New Roman" panose="02020603050405020304" pitchFamily="18" charset="0"/>
                <a:cs typeface="Times New Roman" panose="02020603050405020304" pitchFamily="18" charset="0"/>
              </a:rPr>
              <a:t>Checking The Installed Compiler</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Type the following </a:t>
            </a:r>
            <a:r>
              <a:rPr lang="en-US" u="sng" dirty="0">
                <a:latin typeface="Times New Roman" panose="02020603050405020304" pitchFamily="18" charset="0"/>
                <a:cs typeface="Times New Roman" panose="02020603050405020304" pitchFamily="18" charset="0"/>
                <a:hlinkClick r:id="rId2" tooltip="Linux / Unix which Command Examples To Locate a Command"/>
              </a:rPr>
              <a:t>which command</a:t>
            </a:r>
            <a:r>
              <a:rPr lang="en-US" dirty="0">
                <a:latin typeface="Times New Roman" panose="02020603050405020304" pitchFamily="18" charset="0"/>
                <a:cs typeface="Times New Roman" panose="02020603050405020304" pitchFamily="18" charset="0"/>
              </a:rPr>
              <a:t> or </a:t>
            </a:r>
            <a:r>
              <a:rPr lang="en-US" u="sng" dirty="0">
                <a:latin typeface="Times New Roman" panose="02020603050405020304" pitchFamily="18" charset="0"/>
                <a:cs typeface="Times New Roman" panose="02020603050405020304" pitchFamily="18" charset="0"/>
                <a:hlinkClick r:id="rId3" tooltip="Type command - Linux Bash Shell Scripting Tutorial Wiki"/>
              </a:rPr>
              <a:t>type command</a:t>
            </a:r>
            <a:r>
              <a:rPr lang="en-US" dirty="0">
                <a:latin typeface="Times New Roman" panose="02020603050405020304" pitchFamily="18" charset="0"/>
                <a:cs typeface="Times New Roman" panose="02020603050405020304" pitchFamily="18" charset="0"/>
              </a:rPr>
              <a:t> or </a:t>
            </a:r>
            <a:r>
              <a:rPr lang="en-US" u="sng" dirty="0">
                <a:latin typeface="Times New Roman" panose="02020603050405020304" pitchFamily="18" charset="0"/>
                <a:cs typeface="Times New Roman" panose="02020603050405020304" pitchFamily="18" charset="0"/>
                <a:hlinkClick r:id="rId4" tooltip="Command - Linux Bash Shell Scripting Tutorial Wiki"/>
              </a:rPr>
              <a:t>command </a:t>
            </a:r>
            <a:r>
              <a:rPr lang="en-US" u="sng" dirty="0" err="1">
                <a:latin typeface="Times New Roman" panose="02020603050405020304" pitchFamily="18" charset="0"/>
                <a:cs typeface="Times New Roman" panose="02020603050405020304" pitchFamily="18" charset="0"/>
                <a:hlinkClick r:id="rId4" tooltip="Command - Linux Bash Shell Scripting Tutorial Wiki"/>
              </a:rPr>
              <a:t>command</a:t>
            </a:r>
            <a:r>
              <a:rPr lang="en-US" dirty="0">
                <a:latin typeface="Times New Roman" panose="02020603050405020304" pitchFamily="18" charset="0"/>
                <a:cs typeface="Times New Roman" panose="02020603050405020304" pitchFamily="18" charset="0"/>
              </a:rPr>
              <a:t> to verify that </a:t>
            </a:r>
            <a:r>
              <a:rPr lang="en-US" dirty="0" err="1">
                <a:solidFill>
                  <a:srgbClr val="FF0000"/>
                </a:solidFill>
                <a:latin typeface="Times New Roman" panose="02020603050405020304" pitchFamily="18" charset="0"/>
                <a:cs typeface="Times New Roman" panose="02020603050405020304" pitchFamily="18" charset="0"/>
              </a:rPr>
              <a:t>cc</a:t>
            </a:r>
            <a:r>
              <a:rPr lang="en-US" altLang="en-US" dirty="0" err="1">
                <a:latin typeface="Times New Roman" panose="02020603050405020304" pitchFamily="18" charset="0"/>
                <a:cs typeface="Times New Roman" panose="02020603050405020304" pitchFamily="18" charset="0"/>
              </a:rPr>
              <a:t> or </a:t>
            </a:r>
            <a:r>
              <a:rPr lang="en-US" altLang="en-US" dirty="0" err="1">
                <a:solidFill>
                  <a:srgbClr val="FF0000"/>
                </a:solidFill>
                <a:latin typeface="Times New Roman" panose="02020603050405020304" pitchFamily="18" charset="0"/>
                <a:cs typeface="Times New Roman" panose="02020603050405020304" pitchFamily="18" charset="0"/>
              </a:rPr>
              <a:t>clang</a:t>
            </a:r>
            <a:r>
              <a:rPr lang="en-US" dirty="0">
                <a:latin typeface="Times New Roman" panose="02020603050405020304" pitchFamily="18" charset="0"/>
                <a:cs typeface="Times New Roman" panose="02020603050405020304" pitchFamily="18" charset="0"/>
              </a:rPr>
              <a:t> is installed:</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which </a:t>
            </a:r>
            <a:r>
              <a:rPr lang="en-US" dirty="0" err="1">
                <a:solidFill>
                  <a:srgbClr val="FF0000"/>
                </a:solidFill>
                <a:latin typeface="Times New Roman" panose="02020603050405020304" pitchFamily="18" charset="0"/>
                <a:cs typeface="Times New Roman" panose="02020603050405020304" pitchFamily="18" charset="0"/>
              </a:rPr>
              <a:t>cc</a:t>
            </a:r>
            <a:endParaRPr lang="en-US" dirty="0">
              <a:latin typeface="Times New Roman" panose="02020603050405020304" pitchFamily="18" charset="0"/>
              <a:cs typeface="Times New Roman" panose="02020603050405020304" pitchFamily="18" charset="0"/>
            </a:endParaRP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type </a:t>
            </a:r>
            <a:r>
              <a:rPr lang="en-US" dirty="0" err="1">
                <a:solidFill>
                  <a:srgbClr val="FF0000"/>
                </a:solidFill>
                <a:latin typeface="Times New Roman" panose="02020603050405020304" pitchFamily="18" charset="0"/>
                <a:cs typeface="Times New Roman" panose="02020603050405020304" pitchFamily="18" charset="0"/>
              </a:rPr>
              <a:t>cc</a:t>
            </a:r>
            <a:endParaRPr lang="en-US" dirty="0">
              <a:solidFill>
                <a:srgbClr val="FF0000"/>
              </a:solidFill>
              <a:latin typeface="Times New Roman" panose="02020603050405020304" pitchFamily="18" charset="0"/>
              <a:cs typeface="Times New Roman" panose="02020603050405020304" pitchFamily="18" charset="0"/>
            </a:endParaRP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command -V </a:t>
            </a:r>
            <a:r>
              <a:rPr lang="en-US" dirty="0" err="1">
                <a:solidFill>
                  <a:srgbClr val="FF0000"/>
                </a:solidFill>
                <a:latin typeface="Times New Roman" panose="02020603050405020304" pitchFamily="18" charset="0"/>
                <a:cs typeface="Times New Roman" panose="02020603050405020304" pitchFamily="18" charset="0"/>
              </a:rPr>
              <a:t>cc</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Sample outputs:</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a:t>
            </a:r>
            <a:r>
              <a:rPr lang="en-US" dirty="0" err="1">
                <a:solidFill>
                  <a:srgbClr val="FF0000"/>
                </a:solidFill>
                <a:latin typeface="Times New Roman" panose="02020603050405020304" pitchFamily="18" charset="0"/>
                <a:cs typeface="Times New Roman" panose="02020603050405020304" pitchFamily="18" charset="0"/>
              </a:rPr>
              <a:t>usr</a:t>
            </a:r>
            <a:r>
              <a:rPr lang="en-US" dirty="0">
                <a:solidFill>
                  <a:srgbClr val="FF0000"/>
                </a:solidFill>
                <a:latin typeface="Times New Roman" panose="02020603050405020304" pitchFamily="18" charset="0"/>
                <a:cs typeface="Times New Roman" panose="02020603050405020304" pitchFamily="18" charset="0"/>
              </a:rPr>
              <a:t>/bin/</a:t>
            </a:r>
            <a:r>
              <a:rPr lang="en-US" dirty="0" err="1">
                <a:solidFill>
                  <a:srgbClr val="FF0000"/>
                </a:solidFill>
                <a:latin typeface="Times New Roman" panose="02020603050405020304" pitchFamily="18" charset="0"/>
                <a:cs typeface="Times New Roman" panose="02020603050405020304" pitchFamily="18" charset="0"/>
              </a:rPr>
              <a:t>cc</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Find out version of </a:t>
            </a:r>
            <a:r>
              <a:rPr lang="en-US" dirty="0" err="1">
                <a:latin typeface="Times New Roman" panose="02020603050405020304" pitchFamily="18" charset="0"/>
                <a:cs typeface="Times New Roman" panose="02020603050405020304" pitchFamily="18" charset="0"/>
              </a:rPr>
              <a:t>cc</a:t>
            </a:r>
            <a:r>
              <a:rPr lang="en-US" dirty="0">
                <a:latin typeface="Times New Roman" panose="02020603050405020304" pitchFamily="18" charset="0"/>
                <a:cs typeface="Times New Roman" panose="02020603050405020304" pitchFamily="18" charset="0"/>
              </a:rPr>
              <a:t>, run:</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cc</a:t>
            </a:r>
            <a:r>
              <a:rPr lang="en-US" dirty="0">
                <a:solidFill>
                  <a:srgbClr val="FF0000"/>
                </a:solidFill>
                <a:latin typeface="Times New Roman" panose="02020603050405020304" pitchFamily="18" charset="0"/>
                <a:cs typeface="Times New Roman" panose="02020603050405020304" pitchFamily="18" charset="0"/>
              </a:rPr>
              <a:t> --version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03649"/>
            <a:ext cx="9603275" cy="650105"/>
          </a:xfrm>
        </p:spPr>
        <p:txBody>
          <a:bodyPr/>
          <a:lstStyle/>
          <a:p>
            <a:r>
              <a:rPr lang="en-US" cap="none" dirty="0">
                <a:latin typeface="Times New Roman" panose="02020603050405020304" pitchFamily="18" charset="0"/>
                <a:cs typeface="Times New Roman" panose="02020603050405020304" pitchFamily="18" charset="0"/>
              </a:rPr>
              <a:t>Writing C-Programming Code On </a:t>
            </a:r>
            <a:r>
              <a:rPr lang="en-US" cap="none" dirty="0" err="1">
                <a:latin typeface="Times New Roman" panose="02020603050405020304" pitchFamily="18" charset="0"/>
                <a:cs typeface="Times New Roman" panose="02020603050405020304" pitchFamily="18" charset="0"/>
              </a:rPr>
              <a:t>Minix</a:t>
            </a:r>
            <a:endParaRPr lang="en-US" cap="none"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Using your favourite editor create a C program that prints a welcoming message (If you are not familiar with command line editors you can write the programme on your windows system and store it in the shared folder). Compile and run this program.</a:t>
            </a:r>
          </a:p>
          <a:p>
            <a:pPr marL="0" indent="0">
              <a:buNone/>
            </a:pPr>
            <a:r>
              <a:rPr lang="en-US" dirty="0">
                <a:solidFill>
                  <a:schemeClr val="accent3">
                    <a:lumMod val="75000"/>
                  </a:schemeClr>
                </a:solidFill>
                <a:latin typeface="Times New Roman" panose="02020603050405020304" pitchFamily="18" charset="0"/>
                <a:cs typeface="Times New Roman" panose="02020603050405020304" pitchFamily="18" charset="0"/>
              </a:rPr>
              <a:t>Use a text editor such as vi or </a:t>
            </a:r>
            <a:r>
              <a:rPr lang="en-US" dirty="0" err="1">
                <a:solidFill>
                  <a:schemeClr val="accent3">
                    <a:lumMod val="75000"/>
                  </a:schemeClr>
                </a:solidFill>
                <a:latin typeface="Times New Roman" panose="02020603050405020304" pitchFamily="18" charset="0"/>
                <a:cs typeface="Times New Roman" panose="02020603050405020304" pitchFamily="18" charset="0"/>
              </a:rPr>
              <a:t>gedit</a:t>
            </a:r>
            <a:r>
              <a:rPr lang="en-US" dirty="0">
                <a:solidFill>
                  <a:schemeClr val="accent3">
                    <a:lumMod val="75000"/>
                  </a:schemeClr>
                </a:solidFill>
                <a:latin typeface="Times New Roman" panose="02020603050405020304" pitchFamily="18" charset="0"/>
                <a:cs typeface="Times New Roman" panose="02020603050405020304" pitchFamily="18" charset="0"/>
              </a:rPr>
              <a:t> or </a:t>
            </a:r>
            <a:r>
              <a:rPr lang="en-US" dirty="0" err="1">
                <a:solidFill>
                  <a:schemeClr val="accent3">
                    <a:lumMod val="75000"/>
                  </a:schemeClr>
                </a:solidFill>
                <a:latin typeface="Times New Roman" panose="02020603050405020304" pitchFamily="18" charset="0"/>
                <a:cs typeface="Times New Roman" panose="02020603050405020304" pitchFamily="18" charset="0"/>
              </a:rPr>
              <a:t>nano</a:t>
            </a:r>
            <a:r>
              <a:rPr lang="en-US" dirty="0">
                <a:solidFill>
                  <a:schemeClr val="accent3">
                    <a:lumMod val="75000"/>
                  </a:schemeClr>
                </a:solidFill>
                <a:latin typeface="Times New Roman" panose="02020603050405020304" pitchFamily="18" charset="0"/>
                <a:cs typeface="Times New Roman" panose="02020603050405020304" pitchFamily="18" charset="0"/>
              </a:rPr>
              <a:t> to create a C program called </a:t>
            </a:r>
            <a:r>
              <a:rPr lang="en-US" dirty="0" err="1">
                <a:solidFill>
                  <a:schemeClr val="accent3">
                    <a:lumMod val="75000"/>
                  </a:schemeClr>
                </a:solidFill>
                <a:latin typeface="Times New Roman" panose="02020603050405020304" pitchFamily="18" charset="0"/>
                <a:cs typeface="Times New Roman" panose="02020603050405020304" pitchFamily="18" charset="0"/>
              </a:rPr>
              <a:t>first.c</a:t>
            </a:r>
            <a:r>
              <a:rPr lang="en-US" dirty="0">
                <a:solidFill>
                  <a:schemeClr val="accent3">
                    <a:lumMod val="75000"/>
                  </a:schemeClr>
                </a:solidFill>
                <a:latin typeface="Times New Roman" panose="02020603050405020304" pitchFamily="18" charset="0"/>
                <a:cs typeface="Times New Roman" panose="02020603050405020304" pitchFamily="18" charset="0"/>
              </a:rPr>
              <a:t>:</a:t>
            </a:r>
          </a:p>
          <a:p>
            <a:pPr marL="0" indent="0">
              <a:buNone/>
            </a:pPr>
            <a:r>
              <a:rPr lang="en-US" dirty="0">
                <a:solidFill>
                  <a:schemeClr val="accent3">
                    <a:lumMod val="75000"/>
                  </a:schemeClr>
                </a:solidFill>
                <a:latin typeface="Times New Roman" panose="02020603050405020304" pitchFamily="18" charset="0"/>
                <a:cs typeface="Times New Roman" panose="02020603050405020304" pitchFamily="18" charset="0"/>
              </a:rPr>
              <a:t>$ </a:t>
            </a:r>
            <a:r>
              <a:rPr lang="en-US" dirty="0" err="1">
                <a:solidFill>
                  <a:schemeClr val="accent3">
                    <a:lumMod val="75000"/>
                  </a:schemeClr>
                </a:solidFill>
                <a:latin typeface="Times New Roman" panose="02020603050405020304" pitchFamily="18" charset="0"/>
                <a:cs typeface="Times New Roman" panose="02020603050405020304" pitchFamily="18" charset="0"/>
              </a:rPr>
              <a:t>nano</a:t>
            </a:r>
            <a:r>
              <a:rPr lang="en-US" dirty="0">
                <a:solidFill>
                  <a:schemeClr val="accent3">
                    <a:lumMod val="75000"/>
                  </a:schemeClr>
                </a:solidFill>
                <a:latin typeface="Times New Roman" panose="02020603050405020304" pitchFamily="18" charset="0"/>
                <a:cs typeface="Times New Roman" panose="02020603050405020304" pitchFamily="18" charset="0"/>
              </a:rPr>
              <a:t> </a:t>
            </a:r>
            <a:r>
              <a:rPr lang="en-US" dirty="0" err="1">
                <a:solidFill>
                  <a:schemeClr val="accent3">
                    <a:lumMod val="75000"/>
                  </a:schemeClr>
                </a:solidFill>
                <a:latin typeface="Times New Roman" panose="02020603050405020304" pitchFamily="18" charset="0"/>
                <a:cs typeface="Times New Roman" panose="02020603050405020304" pitchFamily="18" charset="0"/>
              </a:rPr>
              <a:t>first.c</a:t>
            </a:r>
            <a:endParaRPr lang="en-US" dirty="0">
              <a:solidFill>
                <a:schemeClr val="accent3">
                  <a:lumMod val="75000"/>
                </a:schemeClr>
              </a:solidFill>
              <a:latin typeface="Times New Roman" panose="02020603050405020304" pitchFamily="18" charset="0"/>
              <a:cs typeface="Times New Roman" panose="02020603050405020304" pitchFamily="18" charset="0"/>
            </a:endParaRPr>
          </a:p>
          <a:p>
            <a:pPr marL="0" lvl="0" indent="0">
              <a:buNone/>
            </a:pPr>
            <a:r>
              <a:rPr lang="en-US" dirty="0">
                <a:latin typeface="Times New Roman" panose="02020603050405020304" pitchFamily="18" charset="0"/>
                <a:cs typeface="Times New Roman" panose="02020603050405020304" pitchFamily="18" charset="0"/>
              </a:rPr>
              <a:t>(When using </a:t>
            </a:r>
            <a:r>
              <a:rPr lang="en-US" u="sng" dirty="0" err="1">
                <a:solidFill>
                  <a:srgbClr val="FF0000"/>
                </a:solidFill>
                <a:latin typeface="Times New Roman" panose="02020603050405020304" pitchFamily="18" charset="0"/>
                <a:cs typeface="Times New Roman" panose="02020603050405020304" pitchFamily="18" charset="0"/>
              </a:rPr>
              <a:t>nano</a:t>
            </a:r>
            <a:r>
              <a:rPr lang="en-US" dirty="0">
                <a:latin typeface="Times New Roman" panose="02020603050405020304" pitchFamily="18" charset="0"/>
                <a:cs typeface="Times New Roman" panose="02020603050405020304" pitchFamily="18" charset="0"/>
              </a:rPr>
              <a:t> CTRL+O is needed to save and CTRL+X to exit)</a:t>
            </a:r>
          </a:p>
          <a:p>
            <a:pPr marL="0" indent="0">
              <a:buNone/>
            </a:pPr>
            <a:r>
              <a:rPr lang="en-US" dirty="0">
                <a:latin typeface="Times New Roman" panose="02020603050405020304" pitchFamily="18" charset="0"/>
                <a:cs typeface="Times New Roman" panose="02020603050405020304" pitchFamily="18" charset="0"/>
              </a:rPr>
              <a:t>Type the following lines to create your program:</a:t>
            </a:r>
            <a:endParaRPr lang="en-US" dirty="0">
              <a:solidFill>
                <a:schemeClr val="accent3">
                  <a:lumMod val="75000"/>
                </a:schemeClr>
              </a:solidFill>
              <a:latin typeface="Times New Roman" panose="02020603050405020304" pitchFamily="18" charset="0"/>
              <a:cs typeface="Times New Roman" panose="02020603050405020304" pitchFamily="18" charset="0"/>
            </a:endParaRPr>
          </a:p>
          <a:p>
            <a:pPr marL="0" indent="0">
              <a:buNone/>
            </a:pPr>
            <a:r>
              <a:rPr lang="en-US" dirty="0">
                <a:solidFill>
                  <a:srgbClr val="FF0000"/>
                </a:solidFill>
                <a:latin typeface="Times New Roman" panose="02020603050405020304" pitchFamily="18" charset="0"/>
                <a:cs typeface="Times New Roman" panose="02020603050405020304" pitchFamily="18" charset="0"/>
              </a:rPr>
              <a:t>#include &lt;</a:t>
            </a:r>
            <a:r>
              <a:rPr lang="en-US" dirty="0" err="1">
                <a:solidFill>
                  <a:srgbClr val="FF0000"/>
                </a:solidFill>
                <a:latin typeface="Times New Roman" panose="02020603050405020304" pitchFamily="18" charset="0"/>
                <a:cs typeface="Times New Roman" panose="02020603050405020304" pitchFamily="18" charset="0"/>
              </a:rPr>
              <a:t>stdio.h</a:t>
            </a:r>
            <a:r>
              <a:rPr lang="en-US" dirty="0">
                <a:solidFill>
                  <a:srgbClr val="FF0000"/>
                </a:solidFill>
                <a:latin typeface="Times New Roman" panose="02020603050405020304" pitchFamily="18" charset="0"/>
                <a:cs typeface="Times New Roman" panose="02020603050405020304" pitchFamily="18" charset="0"/>
              </a:rPr>
              <a:t>&gt;</a:t>
            </a:r>
          </a:p>
          <a:p>
            <a:pPr marL="0" indent="0">
              <a:buNone/>
            </a:pPr>
            <a:r>
              <a:rPr lang="en-US" dirty="0" err="1">
                <a:solidFill>
                  <a:srgbClr val="FF0000"/>
                </a:solidFill>
                <a:latin typeface="Times New Roman" panose="02020603050405020304" pitchFamily="18" charset="0"/>
                <a:cs typeface="Times New Roman" panose="02020603050405020304" pitchFamily="18" charset="0"/>
              </a:rPr>
              <a:t>int</a:t>
            </a:r>
            <a:r>
              <a:rPr lang="en-US" dirty="0">
                <a:solidFill>
                  <a:srgbClr val="FF0000"/>
                </a:solidFill>
                <a:latin typeface="Times New Roman" panose="02020603050405020304" pitchFamily="18" charset="0"/>
                <a:cs typeface="Times New Roman" panose="02020603050405020304" pitchFamily="18" charset="0"/>
              </a:rPr>
              <a:t> main(void){</a:t>
            </a:r>
          </a:p>
          <a:p>
            <a:pPr marL="0" indent="0">
              <a:buNone/>
            </a:pP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printf</a:t>
            </a:r>
            <a:r>
              <a:rPr lang="en-US" dirty="0">
                <a:solidFill>
                  <a:srgbClr val="FF0000"/>
                </a:solidFill>
                <a:latin typeface="Times New Roman" panose="02020603050405020304" pitchFamily="18" charset="0"/>
                <a:cs typeface="Times New Roman" panose="02020603050405020304" pitchFamily="18" charset="0"/>
              </a:rPr>
              <a:t>("My first C program\n");</a:t>
            </a:r>
          </a:p>
          <a:p>
            <a:pPr marL="0" indent="0">
              <a:buNone/>
            </a:pPr>
            <a:r>
              <a:rPr lang="en-US" dirty="0">
                <a:solidFill>
                  <a:srgbClr val="FF0000"/>
                </a:solidFill>
                <a:latin typeface="Times New Roman" panose="02020603050405020304" pitchFamily="18" charset="0"/>
                <a:cs typeface="Times New Roman" panose="02020603050405020304" pitchFamily="18" charset="0"/>
              </a:rPr>
              <a:t>  return 0;</a:t>
            </a:r>
          </a:p>
          <a:p>
            <a:pPr marL="0" indent="0">
              <a:buNone/>
            </a:pPr>
            <a:r>
              <a:rPr lang="en-US" dirty="0">
                <a:solidFill>
                  <a:srgbClr val="FF000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12980"/>
            <a:ext cx="9603275" cy="640774"/>
          </a:xfrm>
        </p:spPr>
        <p:txBody>
          <a:bodyPr/>
          <a:lstStyle/>
          <a:p>
            <a:r>
              <a:rPr lang="en-US" cap="none" dirty="0">
                <a:latin typeface="Times New Roman" panose="02020603050405020304" pitchFamily="18" charset="0"/>
                <a:cs typeface="Times New Roman" panose="02020603050405020304" pitchFamily="18" charset="0"/>
              </a:rPr>
              <a:t>How Do I Compile A C-program IN MINIX?</a:t>
            </a:r>
          </a:p>
        </p:txBody>
      </p:sp>
      <p:sp>
        <p:nvSpPr>
          <p:cNvPr id="3" name="Content Placeholder 2"/>
          <p:cNvSpPr>
            <a:spLocks noGrp="1"/>
          </p:cNvSpPr>
          <p:nvPr>
            <p:ph idx="1"/>
          </p:nvPr>
        </p:nvSpPr>
        <p:spPr>
          <a:xfrm>
            <a:off x="1451579" y="2015732"/>
            <a:ext cx="9603275" cy="2988515"/>
          </a:xfrm>
        </p:spPr>
        <p:txBody>
          <a:bodyPr/>
          <a:lstStyle/>
          <a:p>
            <a:pPr algn="just"/>
            <a:r>
              <a:rPr lang="en-US" dirty="0">
                <a:latin typeface="Times New Roman" panose="02020603050405020304" pitchFamily="18" charset="0"/>
                <a:cs typeface="Times New Roman" panose="02020603050405020304" pitchFamily="18" charset="0"/>
              </a:rPr>
              <a:t>To compile C program </a:t>
            </a:r>
            <a:r>
              <a:rPr lang="en-US" dirty="0" err="1">
                <a:latin typeface="Times New Roman" panose="02020603050405020304" pitchFamily="18" charset="0"/>
                <a:cs typeface="Times New Roman" panose="02020603050405020304" pitchFamily="18" charset="0"/>
              </a:rPr>
              <a:t>first.c</a:t>
            </a:r>
            <a:r>
              <a:rPr lang="en-US" dirty="0">
                <a:latin typeface="Times New Roman" panose="02020603050405020304" pitchFamily="18" charset="0"/>
                <a:cs typeface="Times New Roman" panose="02020603050405020304" pitchFamily="18" charset="0"/>
              </a:rPr>
              <a:t>, and create an executable file called first, enter:</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cc </a:t>
            </a:r>
            <a:r>
              <a:rPr lang="en-US" dirty="0" err="1">
                <a:solidFill>
                  <a:srgbClr val="FF0000"/>
                </a:solidFill>
                <a:latin typeface="Times New Roman" panose="02020603050405020304" pitchFamily="18" charset="0"/>
                <a:cs typeface="Times New Roman" panose="02020603050405020304" pitchFamily="18" charset="0"/>
              </a:rPr>
              <a:t>first.c</a:t>
            </a:r>
            <a:r>
              <a:rPr lang="en-US" dirty="0">
                <a:solidFill>
                  <a:srgbClr val="FF0000"/>
                </a:solidFill>
                <a:latin typeface="Times New Roman" panose="02020603050405020304" pitchFamily="18" charset="0"/>
                <a:cs typeface="Times New Roman" panose="02020603050405020304" pitchFamily="18" charset="0"/>
              </a:rPr>
              <a:t> -o first</a:t>
            </a:r>
          </a:p>
          <a:p>
            <a:pPr algn="just"/>
            <a:r>
              <a:rPr lang="en-US" dirty="0">
                <a:latin typeface="Times New Roman" panose="02020603050405020304" pitchFamily="18" charset="0"/>
                <a:cs typeface="Times New Roman" panose="02020603050405020304" pitchFamily="18" charset="0"/>
              </a:rPr>
              <a:t>To execute program first, enter:</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 ./first</a:t>
            </a:r>
          </a:p>
          <a:p>
            <a:pPr algn="just"/>
            <a:r>
              <a:rPr lang="en-US" dirty="0">
                <a:latin typeface="Times New Roman" panose="02020603050405020304" pitchFamily="18" charset="0"/>
                <a:cs typeface="Times New Roman" panose="02020603050405020304" pitchFamily="18" charset="0"/>
              </a:rPr>
              <a:t>Output:</a:t>
            </a:r>
          </a:p>
          <a:p>
            <a:pPr marL="457200" lvl="1" indent="0" algn="just">
              <a:buNone/>
            </a:pPr>
            <a:r>
              <a:rPr lang="en-US" dirty="0">
                <a:solidFill>
                  <a:srgbClr val="FF0000"/>
                </a:solidFill>
                <a:latin typeface="Times New Roman" panose="02020603050405020304" pitchFamily="18" charset="0"/>
                <a:cs typeface="Times New Roman" panose="02020603050405020304" pitchFamily="18" charset="0"/>
              </a:rPr>
              <a:t>My first C program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12980"/>
            <a:ext cx="9603275" cy="640774"/>
          </a:xfrm>
        </p:spPr>
        <p:txBody>
          <a:bodyPr/>
          <a:lstStyle/>
          <a:p>
            <a:r>
              <a:rPr lang="en-US" altLang="en-US" cap="none" dirty="0">
                <a:latin typeface="Times New Roman" panose="02020603050405020304" pitchFamily="18" charset="0"/>
                <a:cs typeface="Times New Roman" panose="02020603050405020304" pitchFamily="18" charset="0"/>
              </a:rPr>
              <a:t>C Programming RESOURCES</a:t>
            </a:r>
          </a:p>
        </p:txBody>
      </p:sp>
      <p:sp>
        <p:nvSpPr>
          <p:cNvPr id="3" name="Content Placeholder 2"/>
          <p:cNvSpPr>
            <a:spLocks noGrp="1"/>
          </p:cNvSpPr>
          <p:nvPr>
            <p:ph idx="1"/>
          </p:nvPr>
        </p:nvSpPr>
        <p:spPr>
          <a:xfrm>
            <a:off x="1451579" y="2015733"/>
            <a:ext cx="9603275" cy="1800488"/>
          </a:xfrm>
        </p:spPr>
        <p:txBody>
          <a:bodyPr/>
          <a:lstStyle/>
          <a:p>
            <a:r>
              <a:rPr lang="en-US" dirty="0">
                <a:latin typeface="Times New Roman" panose="02020603050405020304" pitchFamily="18" charset="0"/>
                <a:cs typeface="Times New Roman" panose="02020603050405020304" pitchFamily="18" charset="0"/>
              </a:rPr>
              <a:t>C Tutorial</a:t>
            </a:r>
            <a:r>
              <a:rPr lang="en-US" altLang="en-US" dirty="0">
                <a:latin typeface="Times New Roman" panose="02020603050405020304" pitchFamily="18" charset="0"/>
                <a:cs typeface="Times New Roman" panose="02020603050405020304" pitchFamily="18" charset="0"/>
              </a:rPr>
              <a:t>: https://www.cprogramming.com/tutorial/c-tutorial.html</a:t>
            </a:r>
          </a:p>
          <a:p>
            <a:r>
              <a:rPr lang="en-US" altLang="en-US" dirty="0">
                <a:latin typeface="Times New Roman" panose="02020603050405020304" pitchFamily="18" charset="0"/>
                <a:cs typeface="Times New Roman" panose="02020603050405020304" pitchFamily="18" charset="0"/>
              </a:rPr>
              <a:t>Coding Unit’s C Tutorials: https://www.codingunit.com/category/c-tutorials</a:t>
            </a:r>
          </a:p>
          <a:p>
            <a:r>
              <a:rPr lang="en-US" altLang="en-US" dirty="0">
                <a:latin typeface="Times New Roman" panose="02020603050405020304" pitchFamily="18" charset="0"/>
                <a:cs typeface="Times New Roman" panose="02020603050405020304" pitchFamily="18" charset="0"/>
              </a:rPr>
              <a:t>C In a Nutshell Book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54239" y="3013788"/>
            <a:ext cx="8643154" cy="630292"/>
          </a:xfrm>
        </p:spPr>
        <p:txBody>
          <a:bodyPr/>
          <a:lstStyle/>
          <a:p>
            <a:r>
              <a:rPr lang="en-US" altLang="en-US" cap="none" dirty="0" err="1">
                <a:latin typeface="Times New Roman" panose="02020603050405020304" pitchFamily="18" charset="0"/>
                <a:cs typeface="Times New Roman" panose="02020603050405020304" pitchFamily="18" charset="0"/>
                <a:sym typeface="+mn-ea"/>
              </a:rPr>
              <a:t>Multiprocess</a:t>
            </a:r>
            <a:r>
              <a:rPr lang="en-US" altLang="en-US" cap="none" dirty="0">
                <a:latin typeface="Times New Roman" panose="02020603050405020304" pitchFamily="18" charset="0"/>
                <a:cs typeface="Times New Roman" panose="02020603050405020304" pitchFamily="18" charset="0"/>
                <a:sym typeface="+mn-ea"/>
              </a:rPr>
              <a:t> Program On </a:t>
            </a:r>
            <a:r>
              <a:rPr lang="en-US" altLang="en-US" cap="none" dirty="0" err="1">
                <a:latin typeface="Times New Roman" panose="02020603050405020304" pitchFamily="18" charset="0"/>
                <a:cs typeface="Times New Roman" panose="02020603050405020304" pitchFamily="18" charset="0"/>
                <a:sym typeface="+mn-ea"/>
              </a:rPr>
              <a:t>Minix</a:t>
            </a:r>
            <a:endParaRPr lang="en-US" altLang="en-US" cap="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42060"/>
            <a:ext cx="9603275" cy="611694"/>
          </a:xfrm>
        </p:spPr>
        <p:txBody>
          <a:bodyPr/>
          <a:lstStyle/>
          <a:p>
            <a:r>
              <a:rPr lang="en-US" altLang="en-US" cap="none" dirty="0">
                <a:latin typeface="Times New Roman" panose="02020603050405020304" pitchFamily="18" charset="0"/>
                <a:cs typeface="Times New Roman" panose="02020603050405020304" pitchFamily="18" charset="0"/>
              </a:rPr>
              <a:t>Creating A </a:t>
            </a:r>
            <a:r>
              <a:rPr lang="en-US" altLang="en-US" cap="none" dirty="0" err="1">
                <a:latin typeface="Times New Roman" panose="02020603050405020304" pitchFamily="18" charset="0"/>
                <a:cs typeface="Times New Roman" panose="02020603050405020304" pitchFamily="18" charset="0"/>
              </a:rPr>
              <a:t>Multiprocess</a:t>
            </a:r>
            <a:r>
              <a:rPr lang="en-US" altLang="en-US" cap="none" dirty="0">
                <a:latin typeface="Times New Roman" panose="02020603050405020304" pitchFamily="18" charset="0"/>
                <a:cs typeface="Times New Roman" panose="02020603050405020304" pitchFamily="18" charset="0"/>
              </a:rPr>
              <a:t> Program</a:t>
            </a:r>
          </a:p>
        </p:txBody>
      </p:sp>
      <p:sp>
        <p:nvSpPr>
          <p:cNvPr id="3" name="Content Placeholder 2"/>
          <p:cNvSpPr>
            <a:spLocks noGrp="1"/>
          </p:cNvSpPr>
          <p:nvPr>
            <p:ph idx="1"/>
          </p:nvPr>
        </p:nvSpPr>
        <p:spPr>
          <a:xfrm>
            <a:off x="1106805" y="2015490"/>
            <a:ext cx="10120630" cy="3600450"/>
          </a:xfrm>
        </p:spPr>
        <p:txBody>
          <a:bodyPr>
            <a:noAutofit/>
          </a:bodyPr>
          <a:lstStyle/>
          <a:p>
            <a:pPr algn="just"/>
            <a:r>
              <a:rPr lang="en-US" altLang="en-US" sz="1800" dirty="0">
                <a:latin typeface="Times New Roman" panose="02020603050405020304" pitchFamily="18" charset="0"/>
                <a:cs typeface="Times New Roman" panose="02020603050405020304" pitchFamily="18" charset="0"/>
              </a:rPr>
              <a:t>Download the</a:t>
            </a:r>
            <a:r>
              <a:rPr lang="en-US" sz="1800" dirty="0">
                <a:latin typeface="Times New Roman" panose="02020603050405020304" pitchFamily="18" charset="0"/>
                <a:cs typeface="Times New Roman" panose="02020603050405020304" pitchFamily="18" charset="0"/>
              </a:rPr>
              <a:t> </a:t>
            </a:r>
            <a:r>
              <a:rPr lang="" altLang="en-US" sz="1800" dirty="0">
                <a:solidFill>
                  <a:srgbClr val="FF0000"/>
                </a:solidFill>
                <a:latin typeface="Times New Roman" panose="02020603050405020304" pitchFamily="18" charset="0"/>
                <a:cs typeface="Times New Roman" panose="02020603050405020304" pitchFamily="18" charset="0"/>
              </a:rPr>
              <a:t>”</a:t>
            </a:r>
            <a:r>
              <a:rPr lang="en-US" altLang="en-US" sz="1800" dirty="0">
                <a:solidFill>
                  <a:srgbClr val="FF0000"/>
                </a:solidFill>
                <a:latin typeface="Times New Roman" panose="02020603050405020304" pitchFamily="18" charset="0"/>
                <a:cs typeface="Times New Roman" panose="02020603050405020304" pitchFamily="18" charset="0"/>
              </a:rPr>
              <a:t>multiprogram</a:t>
            </a:r>
            <a:r>
              <a:rPr lang="" altLang="en-US" sz="1800" dirty="0">
                <a:solidFill>
                  <a:srgbClr val="FF0000"/>
                </a:solidFill>
                <a:latin typeface="Times New Roman" panose="02020603050405020304" pitchFamily="18" charset="0"/>
                <a:cs typeface="Times New Roman" panose="02020603050405020304" pitchFamily="18" charset="0"/>
              </a:rPr>
              <a:t>”</a:t>
            </a:r>
            <a:r>
              <a:rPr lang="en-US" altLang="en-US" sz="1800" dirty="0">
                <a:latin typeface="Times New Roman" panose="02020603050405020304" pitchFamily="18" charset="0"/>
                <a:cs typeface="Times New Roman" panose="02020603050405020304" pitchFamily="18" charset="0"/>
              </a:rPr>
              <a:t> zip file from the student website and extract the </a:t>
            </a:r>
            <a:r>
              <a:rPr lang="en-US" sz="1800" i="1" dirty="0" err="1">
                <a:solidFill>
                  <a:srgbClr val="FF0000"/>
                </a:solidFill>
                <a:latin typeface="Times New Roman" panose="02020603050405020304" pitchFamily="18" charset="0"/>
                <a:cs typeface="Times New Roman" panose="02020603050405020304" pitchFamily="18" charset="0"/>
              </a:rPr>
              <a:t>multi.c</a:t>
            </a:r>
            <a:r>
              <a:rPr lang="en-US" altLang="en-US" sz="1800" i="1" dirty="0">
                <a:solidFill>
                  <a:srgbClr val="FF0000"/>
                </a:solidFill>
                <a:latin typeface="Times New Roman" panose="02020603050405020304" pitchFamily="18" charset="0"/>
                <a:cs typeface="Times New Roman" panose="02020603050405020304" pitchFamily="18" charset="0"/>
              </a:rPr>
              <a:t> </a:t>
            </a:r>
            <a:r>
              <a:rPr lang="en-US" altLang="en-US" sz="1800" dirty="0">
                <a:solidFill>
                  <a:schemeClr val="tx1"/>
                </a:solidFill>
                <a:latin typeface="Times New Roman" panose="02020603050405020304" pitchFamily="18" charset="0"/>
                <a:cs typeface="Times New Roman" panose="02020603050405020304" pitchFamily="18" charset="0"/>
              </a:rPr>
              <a:t>file. </a:t>
            </a:r>
            <a:r>
              <a:rPr 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Copy the file into your shared folder. </a:t>
            </a:r>
            <a:r>
              <a:rPr lang="en-US" sz="1800" dirty="0">
                <a:latin typeface="Times New Roman" panose="02020603050405020304" pitchFamily="18" charset="0"/>
                <a:cs typeface="Times New Roman" panose="02020603050405020304" pitchFamily="18" charset="0"/>
              </a:rPr>
              <a:t>You can use the </a:t>
            </a:r>
            <a:r>
              <a:rPr lang="en-US" sz="1800" dirty="0">
                <a:solidFill>
                  <a:srgbClr val="FF0000"/>
                </a:solidFill>
                <a:latin typeface="Times New Roman" panose="02020603050405020304" pitchFamily="18" charset="0"/>
                <a:cs typeface="Times New Roman" panose="02020603050405020304" pitchFamily="18" charset="0"/>
              </a:rPr>
              <a:t>nano</a:t>
            </a:r>
            <a:r>
              <a:rPr lang="en-US" sz="1800" dirty="0">
                <a:latin typeface="Times New Roman" panose="02020603050405020304" pitchFamily="18" charset="0"/>
                <a:cs typeface="Times New Roman" panose="02020603050405020304" pitchFamily="18" charset="0"/>
              </a:rPr>
              <a:t> editor in </a:t>
            </a:r>
            <a:r>
              <a:rPr lang="en-US" sz="1800" dirty="0" err="1">
                <a:latin typeface="Times New Roman" panose="02020603050405020304" pitchFamily="18" charset="0"/>
                <a:cs typeface="Times New Roman" panose="02020603050405020304" pitchFamily="18" charset="0"/>
              </a:rPr>
              <a:t>Minix</a:t>
            </a:r>
            <a:r>
              <a:rPr lang="en-US" sz="1800" dirty="0">
                <a:latin typeface="Times New Roman" panose="02020603050405020304" pitchFamily="18" charset="0"/>
                <a:cs typeface="Times New Roman" panose="02020603050405020304" pitchFamily="18" charset="0"/>
              </a:rPr>
              <a:t> or use an editor in Windows to edit the file in the shared folder. If you do use nano you will find </a:t>
            </a:r>
            <a:r>
              <a:rPr lang="en-US" sz="1800" dirty="0">
                <a:solidFill>
                  <a:srgbClr val="FF0000"/>
                </a:solidFill>
                <a:latin typeface="Times New Roman" panose="02020603050405020304" pitchFamily="18" charset="0"/>
                <a:cs typeface="Times New Roman" panose="02020603050405020304" pitchFamily="18" charset="0"/>
              </a:rPr>
              <a:t>CTRL+O</a:t>
            </a:r>
            <a:r>
              <a:rPr lang="en-US" sz="1800" dirty="0">
                <a:latin typeface="Times New Roman" panose="02020603050405020304" pitchFamily="18" charset="0"/>
                <a:cs typeface="Times New Roman" panose="02020603050405020304" pitchFamily="18" charset="0"/>
              </a:rPr>
              <a:t> is needed to save and </a:t>
            </a:r>
            <a:r>
              <a:rPr lang="en-US" sz="1800" dirty="0">
                <a:solidFill>
                  <a:srgbClr val="FF0000"/>
                </a:solidFill>
                <a:latin typeface="Times New Roman" panose="02020603050405020304" pitchFamily="18" charset="0"/>
                <a:cs typeface="Times New Roman" panose="02020603050405020304" pitchFamily="18" charset="0"/>
              </a:rPr>
              <a:t>CTRL+X</a:t>
            </a:r>
            <a:r>
              <a:rPr lang="en-US" sz="1800" dirty="0">
                <a:latin typeface="Times New Roman" panose="02020603050405020304" pitchFamily="18" charset="0"/>
                <a:cs typeface="Times New Roman" panose="02020603050405020304" pitchFamily="18" charset="0"/>
              </a:rPr>
              <a:t> to exit.</a:t>
            </a:r>
          </a:p>
          <a:p>
            <a:pPr algn="just"/>
            <a:r>
              <a:rPr lang="en-US" sz="1800" dirty="0">
                <a:latin typeface="Times New Roman" panose="02020603050405020304" pitchFamily="18" charset="0"/>
                <a:cs typeface="Times New Roman" panose="02020603050405020304" pitchFamily="18" charset="0"/>
              </a:rPr>
              <a:t>Compile the file from the </a:t>
            </a:r>
            <a:r>
              <a:rPr lang="en-US" sz="1800" dirty="0" err="1">
                <a:latin typeface="Times New Roman" panose="02020603050405020304" pitchFamily="18" charset="0"/>
                <a:cs typeface="Times New Roman" panose="02020603050405020304" pitchFamily="18" charset="0"/>
              </a:rPr>
              <a:t>Minix</a:t>
            </a:r>
            <a:r>
              <a:rPr lang="en-US" sz="1800" dirty="0">
                <a:latin typeface="Times New Roman" panose="02020603050405020304" pitchFamily="18" charset="0"/>
                <a:cs typeface="Times New Roman" panose="02020603050405020304" pitchFamily="18" charset="0"/>
              </a:rPr>
              <a:t> command line: </a:t>
            </a:r>
            <a:r>
              <a:rPr lang="en-US" sz="1800" dirty="0">
                <a:solidFill>
                  <a:srgbClr val="FF0000"/>
                </a:solidFill>
                <a:latin typeface="Times New Roman" panose="02020603050405020304" pitchFamily="18" charset="0"/>
                <a:cs typeface="Times New Roman" panose="02020603050405020304" pitchFamily="18" charset="0"/>
              </a:rPr>
              <a:t>clang </a:t>
            </a:r>
            <a:r>
              <a:rPr lang="en-US" sz="1800" dirty="0" err="1">
                <a:solidFill>
                  <a:srgbClr val="FF0000"/>
                </a:solidFill>
                <a:latin typeface="Times New Roman" panose="02020603050405020304" pitchFamily="18" charset="0"/>
                <a:cs typeface="Times New Roman" panose="02020603050405020304" pitchFamily="18" charset="0"/>
              </a:rPr>
              <a:t>multi.c</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Run the program:</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a.out</a:t>
            </a:r>
            <a:r>
              <a:rPr lang="en-US" sz="1800" dirty="0">
                <a:latin typeface="Times New Roman" panose="02020603050405020304" pitchFamily="18" charset="0"/>
                <a:cs typeface="Times New Roman" panose="02020603050405020304" pitchFamily="18" charset="0"/>
              </a:rPr>
              <a:t> (for historical reasons UNIX compilers name the output executable </a:t>
            </a:r>
            <a:r>
              <a:rPr lang="en-US" sz="1800" dirty="0" err="1">
                <a:latin typeface="Times New Roman" panose="02020603050405020304" pitchFamily="18" charset="0"/>
                <a:cs typeface="Times New Roman" panose="02020603050405020304" pitchFamily="18" charset="0"/>
              </a:rPr>
              <a:t>a.out</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Note that the </a:t>
            </a:r>
            <a:r>
              <a:rPr lang="en-US" sz="1800" dirty="0">
                <a:solidFill>
                  <a:srgbClr val="FF0000"/>
                </a:solidFill>
                <a:latin typeface="Times New Roman" panose="02020603050405020304" pitchFamily="18" charset="0"/>
                <a:cs typeface="Times New Roman" panose="02020603050405020304" pitchFamily="18" charset="0"/>
              </a:rPr>
              <a:t>"One."</a:t>
            </a:r>
            <a:r>
              <a:rPr lang="en-US" sz="1800" dirty="0">
                <a:latin typeface="Times New Roman" panose="02020603050405020304" pitchFamily="18" charset="0"/>
                <a:cs typeface="Times New Roman" panose="02020603050405020304" pitchFamily="18" charset="0"/>
              </a:rPr>
              <a:t> and </a:t>
            </a:r>
            <a:r>
              <a:rPr lang="en-US" sz="1800" dirty="0">
                <a:solidFill>
                  <a:srgbClr val="FF0000"/>
                </a:solidFill>
                <a:latin typeface="Times New Roman" panose="02020603050405020304" pitchFamily="18" charset="0"/>
                <a:cs typeface="Times New Roman" panose="02020603050405020304" pitchFamily="18" charset="0"/>
              </a:rPr>
              <a:t>"Two."</a:t>
            </a:r>
            <a:r>
              <a:rPr lang="en-US" sz="1800" dirty="0">
                <a:latin typeface="Times New Roman" panose="02020603050405020304" pitchFamily="18" charset="0"/>
                <a:cs typeface="Times New Roman" panose="02020603050405020304" pitchFamily="18" charset="0"/>
              </a:rPr>
              <a:t> messages appear in blocks together. This is because MINIX performs automatic buffering of string output by processes. To disable this buffering, edit the file again and after each of the </a:t>
            </a:r>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 lines, add: </a:t>
            </a:r>
            <a:r>
              <a:rPr lang="en-US" sz="1800" dirty="0" err="1">
                <a:solidFill>
                  <a:srgbClr val="FF0000"/>
                </a:solidFill>
                <a:latin typeface="Times New Roman" panose="02020603050405020304" pitchFamily="18" charset="0"/>
                <a:cs typeface="Times New Roman" panose="02020603050405020304" pitchFamily="18" charset="0"/>
              </a:rPr>
              <a:t>fflush</a:t>
            </a:r>
            <a:r>
              <a:rPr lang="en-US" sz="1800" dirty="0">
                <a:solidFill>
                  <a:srgbClr val="FF0000"/>
                </a:solidFill>
                <a:latin typeface="Times New Roman" panose="02020603050405020304" pitchFamily="18" charset="0"/>
                <a:cs typeface="Times New Roman" panose="02020603050405020304" pitchFamily="18" charset="0"/>
              </a:rPr>
              <a:t>(</a:t>
            </a:r>
            <a:r>
              <a:rPr lang="en-US" sz="1800" dirty="0" err="1">
                <a:solidFill>
                  <a:srgbClr val="FF0000"/>
                </a:solidFill>
                <a:latin typeface="Times New Roman" panose="02020603050405020304" pitchFamily="18" charset="0"/>
                <a:cs typeface="Times New Roman" panose="02020603050405020304" pitchFamily="18" charset="0"/>
              </a:rPr>
              <a:t>stdout</a:t>
            </a:r>
            <a:r>
              <a:rPr lang="en-US" sz="1800" dirty="0">
                <a:solidFill>
                  <a:srgbClr val="FF0000"/>
                </a:solidFill>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Then compile and run again and note the output.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68963"/>
            <a:ext cx="9603275" cy="584791"/>
          </a:xfrm>
        </p:spPr>
        <p:txBody>
          <a:bodyPr/>
          <a:lstStyle/>
          <a:p>
            <a:r>
              <a:rPr lang="en-US" cap="none" dirty="0">
                <a:latin typeface="Times New Roman" panose="02020603050405020304" pitchFamily="18" charset="0"/>
                <a:cs typeface="Times New Roman" panose="02020603050405020304" pitchFamily="18" charset="0"/>
                <a:sym typeface="+mn-ea"/>
              </a:rPr>
              <a:t>Concluding Remarks</a:t>
            </a:r>
            <a:endParaRPr lang="en-US" cap="none"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sym typeface="+mn-ea"/>
              </a:rPr>
              <a:t>Continue working on your coursework for this module.</a:t>
            </a:r>
            <a:endParaRPr 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sym typeface="+mn-ea"/>
              </a:rPr>
              <a:t>Practise the content of the practical class</a:t>
            </a:r>
            <a:r>
              <a:rPr lang="en-US" sz="2800" dirty="0">
                <a:latin typeface="Times New Roman" panose="02020603050405020304" pitchFamily="18" charset="0"/>
                <a:cs typeface="Times New Roman" panose="02020603050405020304" pitchFamily="18" charset="0"/>
                <a:sym typeface="+mn-ea"/>
              </a:rPr>
              <a: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sym typeface="+mn-ea"/>
              </a:rPr>
              <a:t>See you in the </a:t>
            </a:r>
            <a:r>
              <a:rPr lang="en-US" altLang="en-US" sz="2800" dirty="0">
                <a:latin typeface="Times New Roman" panose="02020603050405020304" pitchFamily="18" charset="0"/>
                <a:cs typeface="Times New Roman" panose="02020603050405020304" pitchFamily="18" charset="0"/>
                <a:sym typeface="+mn-ea"/>
              </a:rPr>
              <a:t>next class</a:t>
            </a:r>
            <a:r>
              <a:rPr lang="en-US" sz="2800" dirty="0">
                <a:latin typeface="Times New Roman" panose="02020603050405020304" pitchFamily="18" charset="0"/>
                <a:cs typeface="Times New Roman" panose="02020603050405020304" pitchFamily="18" charset="0"/>
                <a:sym typeface="+mn-ea"/>
              </a:rPr>
              <a:t>.</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4</TotalTime>
  <Words>586</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Gill Sans MT</vt:lpstr>
      <vt:lpstr>Times New Roman</vt:lpstr>
      <vt:lpstr>Gallery</vt:lpstr>
      <vt:lpstr>Principles Of  Secure Operating Systems (CHC 6171)</vt:lpstr>
      <vt:lpstr>PROCESSES In MINIX,  C-programming On Minix &amp; Multiprocess Program On Minix  </vt:lpstr>
      <vt:lpstr>Processes In Minix</vt:lpstr>
      <vt:lpstr>Processes In Minix -- Group Activity</vt:lpstr>
      <vt:lpstr>Introduction To C-Programming</vt:lpstr>
      <vt:lpstr>Checking The Installed Compiler</vt:lpstr>
      <vt:lpstr>Writing C-Programming Code On Minix</vt:lpstr>
      <vt:lpstr>How Do I Compile A C-program IN MINIX?</vt:lpstr>
      <vt:lpstr>C Programming RESOURCES</vt:lpstr>
      <vt:lpstr>Multiprocess Program On Minix</vt:lpstr>
      <vt:lpstr>Creating A Multiprocess Program</vt:lpstr>
      <vt:lpstr>Concluding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Secure Operating Systems (CHC 6171)</dc:title>
  <dc:creator>Walker</dc:creator>
  <cp:lastModifiedBy>Chiagoziem Chima Ukwuoma</cp:lastModifiedBy>
  <cp:revision>52</cp:revision>
  <dcterms:created xsi:type="dcterms:W3CDTF">2023-03-02T17:07:00Z</dcterms:created>
  <dcterms:modified xsi:type="dcterms:W3CDTF">2024-02-12T13:06:20Z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75DE07B177BB4E9F8BCEDF79AD3D600A</vt:lpwstr>
  </property>
  <property fmtid="{D5CDD505-2E9C-101B-9397-08002B2CF9AE}" pid="3" name="KSOProductBuildVer">
    <vt:lpwstr>1033-11.2.0.11486</vt:lpwstr>
  </property>
</Properties>
</file>